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972800" cy="457200"/>
          </a:xfrm>
          <a:prstGeom prst="rect">
            <a:avLst/>
          </a:prstGeom>
          <a:noFill/>
        </p:spPr>
        <p:txBody>
          <a:bodyPr wrap="square">
            <a:spAutoFit/>
          </a:bodyPr>
          <a:lstStyle/>
          <a:p>
            <a:pPr algn="l"/>
            <a:r>
              <a:rPr sz="1100" b="0">
                <a:solidFill>
                  <a:srgbClr val="10B981"/>
                </a:solidFill>
              </a:rPr>
              <a:t>STOCKFOX</a:t>
            </a:r>
          </a:p>
        </p:txBody>
      </p:sp>
      <p:sp>
        <p:nvSpPr>
          <p:cNvPr id="4" name="TextBox 3"/>
          <p:cNvSpPr txBox="1"/>
          <p:nvPr/>
        </p:nvSpPr>
        <p:spPr>
          <a:xfrm>
            <a:off x="731520" y="2286000"/>
            <a:ext cx="10058400" cy="1828800"/>
          </a:xfrm>
          <a:prstGeom prst="rect">
            <a:avLst/>
          </a:prstGeom>
          <a:noFill/>
        </p:spPr>
        <p:txBody>
          <a:bodyPr wrap="square">
            <a:spAutoFit/>
          </a:bodyPr>
          <a:lstStyle/>
          <a:p>
            <a:pPr algn="l"/>
            <a:r>
              <a:rPr sz="3600" b="1">
                <a:solidFill>
                  <a:srgbClr val="FFFFFF"/>
                </a:solidFill>
              </a:rPr>
              <a:t>Explore: A Stock Discovery Experience for First-Time Investors</a:t>
            </a:r>
          </a:p>
        </p:txBody>
      </p:sp>
      <p:sp>
        <p:nvSpPr>
          <p:cNvPr id="5" name="TextBox 4"/>
          <p:cNvSpPr txBox="1"/>
          <p:nvPr/>
        </p:nvSpPr>
        <p:spPr>
          <a:xfrm>
            <a:off x="731520" y="6217920"/>
            <a:ext cx="10058400" cy="457200"/>
          </a:xfrm>
          <a:prstGeom prst="rect">
            <a:avLst/>
          </a:prstGeom>
          <a:noFill/>
        </p:spPr>
        <p:txBody>
          <a:bodyPr wrap="square">
            <a:spAutoFit/>
          </a:bodyPr>
          <a:lstStyle/>
          <a:p>
            <a:pPr algn="l"/>
            <a:r>
              <a:rPr sz="1100" b="0">
                <a:solidFill>
                  <a:srgbClr val="10B981"/>
                </a:solidFill>
              </a:rPr>
              <a:t>StockFox Senior Product Manager Assignment, Option 2. Ends at the Stock Health Scorecard.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74320"/>
            <a:ext cx="11247120" cy="1188720"/>
          </a:xfrm>
          <a:prstGeom prst="rect">
            <a:avLst/>
          </a:prstGeom>
          <a:noFill/>
        </p:spPr>
        <p:txBody>
          <a:bodyPr wrap="square">
            <a:spAutoFit/>
          </a:bodyPr>
          <a:lstStyle/>
          <a:p>
            <a:pPr algn="l"/>
            <a:r>
              <a:rPr sz="2400" b="1">
                <a:solidFill>
                  <a:srgbClr val="FFFFFF"/>
                </a:solidFill>
              </a:rPr>
              <a:t>New investors stall at three points. Most products only fix one.</a:t>
            </a:r>
          </a:p>
        </p:txBody>
      </p:sp>
      <p:sp>
        <p:nvSpPr>
          <p:cNvPr id="3" name="TextBox 2"/>
          <p:cNvSpPr txBox="1"/>
          <p:nvPr/>
        </p:nvSpPr>
        <p:spPr>
          <a:xfrm>
            <a:off x="457200" y="1737360"/>
            <a:ext cx="11247120" cy="4389120"/>
          </a:xfrm>
          <a:prstGeom prst="rect">
            <a:avLst/>
          </a:prstGeom>
          <a:noFill/>
        </p:spPr>
        <p:txBody>
          <a:bodyPr wrap="square">
            <a:spAutoFit/>
          </a:bodyPr>
          <a:lstStyle/>
          <a:p>
            <a:pPr/>
            <a:r>
              <a:rPr sz="1400">
                <a:solidFill>
                  <a:srgbClr val="FFFFFF"/>
                </a:solidFill>
              </a:rPr>
              <a:t>→  Zero-candidate isn't one problem. It's three: no entry point into 5,000+ listed names, no way to parse what surfaces once a name appears, and not enough trust to click even after a candidate is legible.</a:t>
            </a:r>
          </a:p>
          <a:p>
            <a:pPr/>
            <a:r>
              <a:rPr sz="1400">
                <a:solidFill>
                  <a:srgbClr val="FFFFFF"/>
                </a:solidFill>
              </a:rPr>
              <a:t>→  Two different people hit these stalls differently. A blank-slate browser has no name at all: stall one is her whole problem. A tip-driven searcher already has a name, from a headline, a friend, a forwarded message, so she skips stall one and lands straight in stalls two and three, unable to parse what she finds and unsure whether to trust it. Nothing here says which group is bigger, so the design below has to serve both, not assume one.</a:t>
            </a:r>
          </a:p>
          <a:p>
            <a:pPr/>
            <a:r>
              <a:rPr sz="1400">
                <a:solidFill>
                  <a:srgbClr val="FFFFFF"/>
                </a:solidFill>
              </a:rPr>
              <a:t>→  Entry point: each +10 options in a 401(k) plan drops enrollment ~1.5–2 percentage points, across an ~800,000-employee, ~650-plan dataset (Iyengar, Huberman &amp; Jiang). More options measurably reduce whether someone engages at all, before quality of choice even enters the picture.</a:t>
            </a:r>
          </a:p>
          <a:p>
            <a:pPr/>
            <a:r>
              <a:rPr sz="1400">
                <a:solidFill>
                  <a:srgbClr val="FFFFFF"/>
                </a:solidFill>
              </a:rPr>
              <a:t>→  Trust: overconfidence and the disposition effect (holding losers, selling winners too early) show up in an ISB study of ~2.5M NSE investors, ~1.4B trades, 2005–06 data, the most recent large-N India dataset found. SEBI's own F&amp;O data: 93% of individual derivatives traders lost money FY22–24. Derivatives, not stock-picking. But the direction is the point worth borrowing: inexperience correlates with worse outcomes, not just different ones.</a:t>
            </a:r>
          </a:p>
          <a:p>
            <a:pPr/>
            <a:r>
              <a:rPr sz="1400">
                <a:solidFill>
                  <a:srgbClr val="FFFFFF"/>
                </a:solidFill>
              </a:rPr>
              <a:t>→  None of the five named comparables fix the entry-point problem. Screener, Tickertape, Trendlyne, StockGro, and TradingView all default a new user to a search bar, a filter panel, or a social feed, each one assuming a candidate already exists.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74320"/>
            <a:ext cx="11247120" cy="1188720"/>
          </a:xfrm>
          <a:prstGeom prst="rect">
            <a:avLst/>
          </a:prstGeom>
          <a:noFill/>
        </p:spPr>
        <p:txBody>
          <a:bodyPr wrap="square">
            <a:spAutoFit/>
          </a:bodyPr>
          <a:lstStyle/>
          <a:p>
            <a:pPr algn="l"/>
            <a:r>
              <a:rPr sz="2400" b="1">
                <a:solidFill>
                  <a:srgbClr val="FFFFFF"/>
                </a:solidFill>
              </a:rPr>
              <a:t>Explore opens with what a user already recognizes, not a search bar.</a:t>
            </a:r>
          </a:p>
        </p:txBody>
      </p:sp>
      <p:sp>
        <p:nvSpPr>
          <p:cNvPr id="3" name="TextBox 2"/>
          <p:cNvSpPr txBox="1"/>
          <p:nvPr/>
        </p:nvSpPr>
        <p:spPr>
          <a:xfrm>
            <a:off x="457200" y="1737360"/>
            <a:ext cx="11247120" cy="4389120"/>
          </a:xfrm>
          <a:prstGeom prst="rect">
            <a:avLst/>
          </a:prstGeom>
          <a:noFill/>
        </p:spPr>
        <p:txBody>
          <a:bodyPr wrap="square">
            <a:spAutoFit/>
          </a:bodyPr>
          <a:lstStyle/>
          <a:p>
            <a:pPr/>
            <a:r>
              <a:rPr sz="1400">
                <a:solidFill>
                  <a:srgbClr val="FFFFFF"/>
                </a:solidFill>
              </a:rPr>
              <a:t>→  Top bar carries a search field, positioned second, not shrunk. The tip-driven searcher, holding a name from a headline or a friend, isn't demoted: she skips straight past the entry-point stall into the parsing one, and whatever she searches still renders as the same five-field card in S3, not a raw bypass to a wall of numbers. Rails and the brand strip lead visually because they solve the colder case, zero name at all, that none of the five comparables solve.</a:t>
            </a:r>
          </a:p>
          <a:p>
            <a:pPr/>
            <a:r>
              <a:rPr sz="1400">
                <a:solidFill>
                  <a:srgbClr val="FFFFFF"/>
                </a:solidFill>
              </a:rPr>
              <a:t>→  Below it, a brand-recognition strip: 8–10 horizontally scrolling cards for consumer names people already use (a bank, an airline, a coffee chain), not stock tips. A starting point that doesn't require already knowing what a screen or a filter is.</a:t>
            </a:r>
          </a:p>
          <a:p>
            <a:pPr/>
            <a:r>
              <a:rPr sz="1400">
                <a:solidFill>
                  <a:srgbClr val="FFFFFF"/>
                </a:solidFill>
              </a:rPr>
              <a:t>→  Below that, 4–5 theme rails, each a plain-language label plus one disclosed, objective sort criterion. Never a score. For example: 'Profitable every year for 5 years, sorted alphabetically,' not 'Top Picks.' This isn't a screener with someone else picking the filters. A screener assumes the user already knows what to filter by; a first-time investor with no candidate doesn't. That's the exact gap rails close.</a:t>
            </a:r>
          </a:p>
          <a:p>
            <a:pPr/>
            <a:r>
              <a:rPr sz="1400">
                <a:solidFill>
                  <a:srgbClr val="FFFFFF"/>
                </a:solidFill>
              </a:rPr>
              <a:t>→  A persistent compare tray at the bottom holds up to 4 stocks, added by tapping + on any card, without opening or spending anything. It's how a still-undecided user builds a shortlist before committing to one. Same rule as the card applies inside the tray: entries stay in the order added, never re-sorted or highlighted by any metric, so a 2–4 item table doesn't quietly crown a winner.</a:t>
            </a:r>
          </a:p>
          <a:p>
            <a:pPr/>
            <a:r>
              <a:rPr sz="1400">
                <a:solidFill>
                  <a:srgbClr val="FFFFFF"/>
                </a:solidFill>
              </a:rPr>
              <a:t>→  Tapping the card itself, not the tray's +, is the terminal action: it opens that stock's existing Stock Health Scorecard, unmodified, and spends one of the user's 3 free analyses.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74320"/>
            <a:ext cx="11247120" cy="1188720"/>
          </a:xfrm>
          <a:prstGeom prst="rect">
            <a:avLst/>
          </a:prstGeom>
          <a:noFill/>
        </p:spPr>
        <p:txBody>
          <a:bodyPr wrap="square">
            <a:spAutoFit/>
          </a:bodyPr>
          <a:lstStyle/>
          <a:p>
            <a:pPr algn="l"/>
            <a:r>
              <a:rPr sz="2400" b="1">
                <a:solidFill>
                  <a:srgbClr val="FFFFFF"/>
                </a:solidFill>
              </a:rPr>
              <a:t>The card shows five facts and zero opinions.</a:t>
            </a:r>
          </a:p>
        </p:txBody>
      </p:sp>
      <p:sp>
        <p:nvSpPr>
          <p:cNvPr id="3" name="TextBox 2"/>
          <p:cNvSpPr txBox="1"/>
          <p:nvPr/>
        </p:nvSpPr>
        <p:spPr>
          <a:xfrm>
            <a:off x="457200" y="1737360"/>
            <a:ext cx="11247120" cy="4389120"/>
          </a:xfrm>
          <a:prstGeom prst="rect">
            <a:avLst/>
          </a:prstGeom>
          <a:noFill/>
        </p:spPr>
        <p:txBody>
          <a:bodyPr wrap="square">
            <a:spAutoFit/>
          </a:bodyPr>
          <a:lstStyle/>
          <a:p>
            <a:pPr/>
            <a:r>
              <a:rPr sz="1400">
                <a:solidFill>
                  <a:srgbClr val="FFFFFF"/>
                </a:solidFill>
              </a:rPr>
              <a:t>→  Shown: name and a one-line plain-English description of what the company does, the sector tag matching its rail, price and day change shown small and muted, the rail's disclosed sort criterion, and a read-time or complexity tag. Five fields, at the edge of what a fast, unrehearsed glance can hold: roughly 4 chunks with no time to rehearse, per Cowan's 2001 revision of Miller's 1956 figure.</a:t>
            </a:r>
          </a:p>
          <a:p>
            <a:pPr/>
            <a:r>
              <a:rPr sz="1400">
                <a:solidFill>
                  <a:srgbClr val="FFFFFF"/>
                </a:solidFill>
              </a:rPr>
              <a:t>→  Hidden: the composite Health Score number, valuation calls or price targets, peer and competitive ranking, any social or engagement signal, and the full 200+ metric breakdown. Five things withheld on purpose, not missing by oversight.</a:t>
            </a:r>
          </a:p>
          <a:p>
            <a:pPr/>
            <a:r>
              <a:rPr sz="1400">
                <a:solidFill>
                  <a:srgbClr val="FFFFFF"/>
                </a:solidFill>
              </a:rPr>
              <a:t>→  StockFox is not a SEBI Registered Analyst or Investment Adviser. SEBI's Research Analyst Regulations, amended through Dec 2024, define research services to include buy/sell/hold calls, price targets, and opinion on securities broadly, and that applies whether or not the platform charges for it. That's why a score and a price target aren't on this card. Not a formatting choice. A compliance line.</a:t>
            </a:r>
          </a:p>
          <a:p>
            <a:pPr/>
            <a:r>
              <a:rPr sz="1400">
                <a:solidFill>
                  <a:srgbClr val="FFFFFF"/>
                </a:solidFill>
              </a:rPr>
              <a:t>→  The Scorecard shows this same Health Score, one tap later, and that's not a contradiction: a bare number on an unopened card with no visible basis reads as our opinion, act now, while the identical score sitting next to the 200+ metrics and caveats that produced it is a disclosed analytical output, not a verdict handed down cold. It's withheld here for a second, independent reason too: it's the single densest number on the platform, and a first glance is the wrong place for it regardless of how the regulatory question resolves.</a:t>
            </a:r>
          </a:p>
          <a:p>
            <a:pPr/>
            <a:r>
              <a:rPr sz="1400">
                <a:solidFill>
                  <a:srgbClr val="FFFFFF"/>
                </a:solidFill>
              </a:rPr>
              <a:t>→  Whether a disclosed, objectively-sorted rail itself counts as a recommendation under that broadened definition isn't settled by anything found in this research. Flagged as an assumption, not a certainty.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74320"/>
            <a:ext cx="11247120" cy="1188720"/>
          </a:xfrm>
          <a:prstGeom prst="rect">
            <a:avLst/>
          </a:prstGeom>
          <a:noFill/>
        </p:spPr>
        <p:txBody>
          <a:bodyPr wrap="square">
            <a:spAutoFit/>
          </a:bodyPr>
          <a:lstStyle/>
          <a:p>
            <a:pPr algn="l"/>
            <a:r>
              <a:rPr sz="2400" b="1">
                <a:solidFill>
                  <a:srgbClr val="FFFFFF"/>
                </a:solidFill>
              </a:rPr>
              <a:t>Explore shows progress. It never rewards trading.</a:t>
            </a:r>
          </a:p>
        </p:txBody>
      </p:sp>
      <p:sp>
        <p:nvSpPr>
          <p:cNvPr id="3" name="TextBox 2"/>
          <p:cNvSpPr txBox="1"/>
          <p:nvPr/>
        </p:nvSpPr>
        <p:spPr>
          <a:xfrm>
            <a:off x="457200" y="1737360"/>
            <a:ext cx="11247120" cy="4389120"/>
          </a:xfrm>
          <a:prstGeom prst="rect">
            <a:avLst/>
          </a:prstGeom>
          <a:noFill/>
        </p:spPr>
        <p:txBody>
          <a:bodyPr wrap="square">
            <a:spAutoFit/>
          </a:bodyPr>
          <a:lstStyle/>
          <a:p>
            <a:pPr/>
            <a:r>
              <a:rPr sz="1400">
                <a:solidFill>
                  <a:srgbClr val="FFFFFF"/>
                </a:solidFill>
              </a:rPr>
              <a:t>→  The brief asks for exciting. The obvious playbook (points, streaks, leaderboards, social proof) is what StockGro already runs, and it's exactly the mechanic three independent sources tie to worse outcomes for less experienced traders.</a:t>
            </a:r>
          </a:p>
          <a:p>
            <a:pPr/>
            <a:r>
              <a:rPr sz="1400">
                <a:solidFill>
                  <a:srgbClr val="FFFFFF"/>
                </a:solidFill>
              </a:rPr>
              <a:t>→  UK FCA's own study of trading-app engagement mechanics found push notifications raised trade count ~11% and raised risky-product trade share (crypto/CFDs) ~8%. Points and prize draws raised trade count ~12% and risky-product share ~6%. Worst for low-literacy, female, and younger users; heavier-usage accounts earned lower net returns.</a:t>
            </a:r>
          </a:p>
          <a:p>
            <a:pPr/>
            <a:r>
              <a:rPr sz="1400">
                <a:solidFill>
                  <a:srgbClr val="FFFFFF"/>
                </a:solidFill>
              </a:rPr>
              <a:t>→  The US SEC named leaderboards, streaks, badges, and celebratory animations a formal scrutiny category in a 2021 request for information. Massachusetts' securities regulator settled with Robinhood for $7.5M in Jan 2024 over exactly this pattern, citing one inexperienced customer who made 12,700+ trades in six months.</a:t>
            </a:r>
          </a:p>
          <a:p>
            <a:pPr/>
            <a:r>
              <a:rPr sz="1400">
                <a:solidFill>
                  <a:srgbClr val="FFFFFF"/>
                </a:solidFill>
              </a:rPr>
              <a:t>→  Resolution, made literal: a plain, non-rewarded progress readout, 'You've explored 3 of 5 sectors this week,' shown once when Explore reopens. No streak, no points, no badge, no push notification. FCA's mechanics that moved trade count were push notifications and points/prize draws specifically; a static count with no re-engagement trigger and no variable reward doesn't reproduce that loop. It just shows where you've been. Still nothing tied to opening a Scorecard, adding a stock, or any trade-adjacent action.</a:t>
            </a:r>
          </a:p>
          <a:p>
            <a:pPr/>
            <a:r>
              <a:rPr sz="1400">
                <a:solidFill>
                  <a:srgbClr val="FFFFFF"/>
                </a:solidFill>
              </a:rPr>
              <a:t>→  Cost: FCA's own numbers put the engagement lift from those mechanics at ~11–12% trade frequency. Explore will look less sticky week over week than a leaderboard-driven feed. That's the price of not building the thing three regulators and one peer-reviewed study have already flagged.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182880"/>
            <a:ext cx="2743200" cy="320040"/>
          </a:xfrm>
          <a:prstGeom prst="rect">
            <a:avLst/>
          </a:prstGeom>
          <a:noFill/>
        </p:spPr>
        <p:txBody>
          <a:bodyPr wrap="square">
            <a:spAutoFit/>
          </a:bodyPr>
          <a:lstStyle/>
          <a:p>
            <a:pPr algn="l"/>
            <a:r>
              <a:rPr sz="900" b="1">
                <a:solidFill>
                  <a:srgbClr val="10B981"/>
                </a:solidFill>
              </a:rPr>
              <a:t>RECOMMENDATION</a:t>
            </a:r>
          </a:p>
        </p:txBody>
      </p:sp>
      <p:sp>
        <p:nvSpPr>
          <p:cNvPr id="3" name="TextBox 2"/>
          <p:cNvSpPr txBox="1"/>
          <p:nvPr/>
        </p:nvSpPr>
        <p:spPr>
          <a:xfrm>
            <a:off x="457200" y="457200"/>
            <a:ext cx="11247120" cy="1371600"/>
          </a:xfrm>
          <a:prstGeom prst="rect">
            <a:avLst/>
          </a:prstGeom>
          <a:noFill/>
        </p:spPr>
        <p:txBody>
          <a:bodyPr wrap="square">
            <a:spAutoFit/>
          </a:bodyPr>
          <a:lstStyle/>
          <a:p>
            <a:pPr algn="l"/>
            <a:r>
              <a:rPr sz="2600" b="1">
                <a:solidFill>
                  <a:srgbClr val="FFFFFF"/>
                </a:solidFill>
              </a:rPr>
              <a:t>Browsing is free. Opening a Scorecard spends one of the three.</a:t>
            </a:r>
          </a:p>
        </p:txBody>
      </p:sp>
      <p:sp>
        <p:nvSpPr>
          <p:cNvPr id="4" name="TextBox 3"/>
          <p:cNvSpPr txBox="1"/>
          <p:nvPr/>
        </p:nvSpPr>
        <p:spPr>
          <a:xfrm>
            <a:off x="457200" y="2011680"/>
            <a:ext cx="11247120" cy="3200400"/>
          </a:xfrm>
          <a:prstGeom prst="rect">
            <a:avLst/>
          </a:prstGeom>
          <a:noFill/>
        </p:spPr>
        <p:txBody>
          <a:bodyPr wrap="square">
            <a:spAutoFit/>
          </a:bodyPr>
          <a:lstStyle/>
          <a:p>
            <a:pPr/>
            <a:r>
              <a:rPr sz="1400">
                <a:solidFill>
                  <a:srgbClr val="FFFFFF"/>
                </a:solidFill>
              </a:rPr>
              <a:t>→  Explore itself (the brand strip, rails, and compare tray) is unmetered. The 3-free-analysis credit is spent only at the terminal action: opening a Scorecard.</a:t>
            </a:r>
          </a:p>
          <a:p>
            <a:pPr/>
            <a:r>
              <a:rPr sz="1400">
                <a:solidFill>
                  <a:srgbClr val="FFFFFF"/>
                </a:solidFill>
              </a:rPr>
              <a:t>→  Comparable metered products argue for gating there, not earlier. The strongest conversion-predicting behavior in metered consumer apps is a multi-session value threshold, not a raw action count (RevenueCat-reported client examples). The top behavioral flags in freemium conversion models are hitting a real limit and trying features beyond baseline, not browse volume (Amplitude). Seeking Alpha and TipRanks, the closest comparable products, gate on depth per item once a user is already engaged with one stock, not on browse count.</a:t>
            </a:r>
          </a:p>
          <a:p>
            <a:pPr/>
            <a:r>
              <a:rPr sz="1400">
                <a:solidFill>
                  <a:srgbClr val="FFFFFF"/>
                </a:solidFill>
              </a:rPr>
              <a:t>→  Cost: a determined window-shopper can view dozens of cards for free. Real serving cost, zero funnel progress. I'm betting that cost is small: cards are lightweight, and the expensive step is almost certainly the Scorecard's own AI-generated 200+-metric analysis, not the card feed. That's an assumption StockFox can confirm with its own compute-cost data. There's a user-side cost too: a judgment-free space with nothing ever prompting a decision can let an anxious user browse indefinitely without building toward one, which makes the stall more comfortable, not solved. Nothing here currently guards against that.</a:t>
            </a:r>
          </a:p>
          <a:p>
            <a:pPr/>
            <a:r>
              <a:rPr sz="1400">
                <a:solidFill>
                  <a:srgbClr val="FFFFFF"/>
                </a:solidFill>
              </a:rPr>
              <a:t>→  AI Research Copilot, already shipped, answers a query the user already knows how to ask; Explore is for the user who doesn't have a query yet to type, this brief's actual population, so it's a different job, not Copilot rebuilt with extra steps. Two existing surfaces plug in here too, per the public marketing site (the beta itself wasn't viewed this pass, see assumptions). Adding a stock to the compare tray without opening it routes a still-undecided user toward the Confidence Journal's guided, metric-by-metric research, not straight at a paid Scorecard open. A card's sector or jargon tag deep-links to the matching lesson in the existing 4-minute lesson library, instead of a new tooltip system. Peer comparison stays inside the Scorecard and Competitive Lens, post-click, not on the card.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74320"/>
            <a:ext cx="11247120" cy="1188720"/>
          </a:xfrm>
          <a:prstGeom prst="rect">
            <a:avLst/>
          </a:prstGeom>
          <a:noFill/>
        </p:spPr>
        <p:txBody>
          <a:bodyPr wrap="square">
            <a:spAutoFit/>
          </a:bodyPr>
          <a:lstStyle/>
          <a:p>
            <a:pPr algn="l"/>
            <a:r>
              <a:rPr sz="2400" b="1">
                <a:solidFill>
                  <a:srgbClr val="FFFFFF"/>
                </a:solidFill>
              </a:rPr>
              <a:t>One metric: did a stranger open that stock's Scorecard.</a:t>
            </a:r>
          </a:p>
        </p:txBody>
      </p:sp>
      <p:sp>
        <p:nvSpPr>
          <p:cNvPr id="3" name="TextBox 2"/>
          <p:cNvSpPr txBox="1"/>
          <p:nvPr/>
        </p:nvSpPr>
        <p:spPr>
          <a:xfrm>
            <a:off x="457200" y="1737360"/>
            <a:ext cx="11247120" cy="4389120"/>
          </a:xfrm>
          <a:prstGeom prst="rect">
            <a:avLst/>
          </a:prstGeom>
          <a:noFill/>
        </p:spPr>
        <p:txBody>
          <a:bodyPr wrap="square">
            <a:spAutoFit/>
          </a:bodyPr>
          <a:lstStyle/>
          <a:p>
            <a:pPr/>
            <a:r>
              <a:rPr sz="1400">
                <a:solidFill>
                  <a:srgbClr val="FFFFFF"/>
                </a:solidFill>
              </a:rPr>
              <a:t>→  Primary metric: the lift in Scorecard opens Explore causes, not a raw count. Explore-sourced opens per weekly active Explorer, measured against a same-week baseline cohort of users who never touch Explore and open Scorecards only through search or their watchlist. The gap between the two rates is what Explore actually adds; a raw count alone can't tell a genuinely new open from one that would have happened anyway. Counts a Scorecard-open event where the entry point is Explore (a rail card, the brand strip, or the compare tray, not search, not a deep link, not a push notification), the stock wasn't already in the user's watchlist before that session, and the view holds for at least 10 seconds.</a:t>
            </a:r>
          </a:p>
          <a:p>
            <a:pPr/>
            <a:r>
              <a:rPr sz="1400">
                <a:solidFill>
                  <a:srgbClr val="FFFFFF"/>
                </a:solidFill>
              </a:rPr>
              <a:t>→  Doesn't count: search-originated opens (a different, already-solved job: the user already had a name), opens of a stock the user already tracked, sub-10-second dismissals, or repeat opens of the same stock within 7 days.</a:t>
            </a:r>
          </a:p>
          <a:p>
            <a:pPr/>
            <a:r>
              <a:rPr sz="1400">
                <a:solidFill>
                  <a:srgbClr val="FFFFFF"/>
                </a:solidFill>
              </a:rPr>
              <a:t>→  Guardrail 1, harm: confidence-score movement without Confidence Journal engagement. StockFox already tracks a per-user confidence score. Flag any user whose score rises week over week while their Confidence Journal steps completed that week are zero. Rising confidence with no completed research is the overconfidence pattern Q1's evidence describes, not more informed confidence.</a:t>
            </a:r>
          </a:p>
          <a:p>
            <a:pPr/>
            <a:r>
              <a:rPr sz="1400">
                <a:solidFill>
                  <a:srgbClr val="FFFFFF"/>
                </a:solidFill>
              </a:rPr>
              <a:t>→  Guardrail 2, design integrity: Explore card bounce rate, the share of Explore-sourced Scorecard opens, the exact population the primary metric counts, dismissed in under 10 seconds. This is what catches the primary metric being gamed: if a growth team makes cards more clickbait (a bolder claim, a bigger number) to push the open count up, bounce rate rises right alongside it, and that's the tell. It doubles as funnel health: high bounce also means a first-time user is burning their only 3 free looks on noise.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74320"/>
            <a:ext cx="11247120" cy="1188720"/>
          </a:xfrm>
          <a:prstGeom prst="rect">
            <a:avLst/>
          </a:prstGeom>
          <a:noFill/>
        </p:spPr>
        <p:txBody>
          <a:bodyPr wrap="square">
            <a:spAutoFit/>
          </a:bodyPr>
          <a:lstStyle/>
          <a:p>
            <a:pPr algn="l"/>
            <a:r>
              <a:rPr sz="2400" b="1">
                <a:solidFill>
                  <a:srgbClr val="FFFFFF"/>
                </a:solidFill>
              </a:rPr>
              <a:t>Four decisions, four costs.</a:t>
            </a:r>
          </a:p>
        </p:txBody>
      </p:sp>
      <p:sp>
        <p:nvSpPr>
          <p:cNvPr id="3" name="TextBox 2"/>
          <p:cNvSpPr txBox="1"/>
          <p:nvPr/>
        </p:nvSpPr>
        <p:spPr>
          <a:xfrm>
            <a:off x="457200" y="1737360"/>
            <a:ext cx="11247120" cy="4389120"/>
          </a:xfrm>
          <a:prstGeom prst="rect">
            <a:avLst/>
          </a:prstGeom>
          <a:noFill/>
        </p:spPr>
        <p:txBody>
          <a:bodyPr wrap="square">
            <a:spAutoFit/>
          </a:bodyPr>
          <a:lstStyle/>
          <a:p>
            <a:pPr/>
            <a:r>
              <a:rPr sz="1400">
                <a:solidFill>
                  <a:srgbClr val="FFFFFF"/>
                </a:solidFill>
              </a:rPr>
              <a:t>→  No composite score or ranking anywhere pre-click. Cost: no one-glance is-this-good shortcut; some users bounce faster without it. Rejected alternative: show the score with a disclaimer. Rejected because a number outlives its disclaimer in a user's head. Same reasoning behind the finfluencer rule that educational content must reference price data at least 3 months old: people anchor on the number, not the fine print.</a:t>
            </a:r>
          </a:p>
          <a:p>
            <a:pPr/>
            <a:r>
              <a:rPr sz="1400">
                <a:solidFill>
                  <a:srgbClr val="FFFFFF"/>
                </a:solidFill>
              </a:rPr>
              <a:t>→  Browsing is unmetered; only a Scorecard open spends a free analysis. Cost: a determined browser can window-shop indefinitely with zero revenue signal and real serving cost. There's a user-side cost too: nothing here stops an anxious browser from postponing the click indefinitely inside a judgment-free space, which risks making the stall more comfortable instead of solving it. Rejected alternative: meter card views too. Rejected because it recreates the too-many-gates complaint already documented in beginner overwhelm patterns, and because the conversion evidence found rewards exploration breadth, not gating it.</a:t>
            </a:r>
          </a:p>
          <a:p>
            <a:pPr/>
            <a:r>
              <a:rPr sz="1400">
                <a:solidFill>
                  <a:srgbClr val="FFFFFF"/>
                </a:solidFill>
              </a:rPr>
              <a:t>→  No engagement gamification (points, streaks, leaderboards) tied to trading-adjacent actions. Cost: a measurably lower short-term engagement lift than competitors get from exactly these mechanics. FCA found ~11–12% higher trade frequency from them. Rejected alternative: scope streaks or badges to watchlist or Scorecard actions. Rejected because FCA ties the identical mechanic to a 6–8 percentage-point higher share of trades in riskier products, and the SEC has separately named it a formal scrutiny category.</a:t>
            </a:r>
          </a:p>
          <a:p>
            <a:pPr/>
            <a:r>
              <a:rPr sz="1400">
                <a:solidFill>
                  <a:srgbClr val="FFFFFF"/>
                </a:solidFill>
              </a:rPr>
              <a:t>→  Peer comparison hidden pre-click, shown only inside the Scorecard and Competitive Lens. Cost: removes a genuinely useful this-is-cheaper-than-its-peer signal that could speed up conviction earlier. Rejected alternative: show a one-line peer delta on the card. Rejected because a comparative claim about an unopened card reads closer to prefer-this-one than a standalone fact does. That's precisely the line SEBI's broadened opinion-on-securities definition is drawn around.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74320"/>
            <a:ext cx="11247120" cy="1188720"/>
          </a:xfrm>
          <a:prstGeom prst="rect">
            <a:avLst/>
          </a:prstGeom>
          <a:noFill/>
        </p:spPr>
        <p:txBody>
          <a:bodyPr wrap="square">
            <a:spAutoFit/>
          </a:bodyPr>
          <a:lstStyle/>
          <a:p>
            <a:pPr algn="l"/>
            <a:r>
              <a:rPr sz="2400" b="1">
                <a:solidFill>
                  <a:srgbClr val="FFFFFF"/>
                </a:solidFill>
              </a:rPr>
              <a:t>What I don't know, and what I'd ask before this ships.</a:t>
            </a:r>
          </a:p>
        </p:txBody>
      </p:sp>
      <p:sp>
        <p:nvSpPr>
          <p:cNvPr id="3" name="TextBox 2"/>
          <p:cNvSpPr txBox="1"/>
          <p:nvPr/>
        </p:nvSpPr>
        <p:spPr>
          <a:xfrm>
            <a:off x="457200" y="1737360"/>
            <a:ext cx="11247120" cy="4389120"/>
          </a:xfrm>
          <a:prstGeom prst="rect">
            <a:avLst/>
          </a:prstGeom>
          <a:noFill/>
        </p:spPr>
        <p:txBody>
          <a:bodyPr wrap="square">
            <a:spAutoFit/>
          </a:bodyPr>
          <a:lstStyle/>
          <a:p>
            <a:pPr/>
            <a:r>
              <a:rPr sz="1400">
                <a:solidFill>
                  <a:srgbClr val="FFFFFF"/>
                </a:solidFill>
              </a:rPr>
              <a:t>→  Five assumptions carry real risk if wrong, each with the condition that would flip it. Listed alongside this page.</a:t>
            </a:r>
          </a:p>
          <a:p>
            <a:pPr/>
            <a:r>
              <a:rPr sz="1400">
                <a:solidFill>
                  <a:srgbClr val="FFFFFF"/>
                </a:solidFill>
              </a:rPr>
              <a:t>→  Three questions I'd bring to StockFox directly: does the current beta already have a discovery surface, and what did real users show about search-first versus browse-first behavior? Is SEBI Research Analyst registration on the roadmap, or is staying unregistered deliberate? That changes how conservative Explore needs to stay. What does existing funnel data show for where users drop off before a first Scorecard open: does it match no entry point as the biggest blocker, or is it something else?</a:t>
            </a:r>
          </a:p>
          <a:p>
            <a:pPr/>
            <a:r>
              <a:rPr sz="1400">
                <a:solidFill>
                  <a:srgbClr val="FFFFFF"/>
                </a:solidFill>
              </a:rPr>
              <a:t>→  This is v1, screen-level only. Testing the ~4–5-item card and the rail sort criteria with 5–10 real novice users is the next step before any of it ships.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74320"/>
            <a:ext cx="11247120" cy="1188720"/>
          </a:xfrm>
          <a:prstGeom prst="rect">
            <a:avLst/>
          </a:prstGeom>
          <a:noFill/>
        </p:spPr>
        <p:txBody>
          <a:bodyPr wrap="square">
            <a:spAutoFit/>
          </a:bodyPr>
          <a:lstStyle/>
          <a:p>
            <a:pPr algn="l"/>
            <a:r>
              <a:rPr sz="2400" b="1">
                <a:solidFill>
                  <a:srgbClr val="FFFFFF"/>
                </a:solidFill>
              </a:rPr>
              <a:t>Explore, zone by zone</a:t>
            </a:r>
          </a:p>
        </p:txBody>
      </p:sp>
      <p:sp>
        <p:nvSpPr>
          <p:cNvPr id="3" name="TextBox 2"/>
          <p:cNvSpPr txBox="1"/>
          <p:nvPr/>
        </p:nvSpPr>
        <p:spPr>
          <a:xfrm>
            <a:off x="457200" y="1737360"/>
            <a:ext cx="11247120" cy="4389120"/>
          </a:xfrm>
          <a:prstGeom prst="rect">
            <a:avLst/>
          </a:prstGeom>
          <a:noFill/>
        </p:spPr>
        <p:txBody>
          <a:bodyPr wrap="square">
            <a:spAutoFit/>
          </a:bodyPr>
          <a:lstStyle/>
          <a:p>
            <a:pPr/>
            <a:r>
              <a:rPr sz="1400">
                <a:solidFill>
                  <a:srgbClr val="FFFFFF"/>
                </a:solidFill>
              </a:rPr>
              <a:t>→  First open, zero personalization history: every user sees the same theme rails, non-personalized by design in v1. Cost: rails may not match individual interest; someone who only cares about one sector still sees all 4–5 rails. Traded for simplicity, and for not needing behavioral data before it exists.</a:t>
            </a:r>
          </a:p>
          <a:p>
            <a:pPr/>
            <a:r>
              <a:rPr sz="1400">
                <a:solidFill>
                  <a:srgbClr val="FFFFFF"/>
                </a:solidFill>
              </a:rPr>
              <a:t>→  Rails personalize only after a signal exists: at minimum one completed Scorecard open, or an explicit tap of interest. Never before. Avoids building a cold-start recommender on zero data.</a:t>
            </a:r>
          </a:p>
          <a:p>
            <a:pPr/>
            <a:r>
              <a:rPr sz="1400">
                <a:solidFill>
                  <a:srgbClr val="FFFFFF"/>
                </a:solidFill>
              </a:rPr>
              <a:t>→  Tapping a card triggers a short loading state before the Scorecard renders, framed as pulling your Scorecard, not instant. Sets the expectation that real analysis takes a moment, consistent with depth living on the other side of the click, not on the card.</a:t>
            </a:r>
          </a:p>
          <a:p>
            <a:pPr/>
            <a:r>
              <a:rPr sz="1400">
                <a:solidFill>
                  <a:srgbClr val="FFFFFF"/>
                </a:solidFill>
              </a:rPr>
              <a:t>→  The compare tray caps at 4 stocks. A 5th add prompts a swap, not a scroll, keeping the shortlist within the same glance-level ceiling as the card.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74320"/>
            <a:ext cx="11247120" cy="1188720"/>
          </a:xfrm>
          <a:prstGeom prst="rect">
            <a:avLst/>
          </a:prstGeom>
          <a:noFill/>
        </p:spPr>
        <p:txBody>
          <a:bodyPr wrap="square">
            <a:spAutoFit/>
          </a:bodyPr>
          <a:lstStyle/>
          <a:p>
            <a:pPr algn="l"/>
            <a:r>
              <a:rPr sz="2400" b="1">
                <a:solidFill>
                  <a:srgbClr val="FFFFFF"/>
                </a:solidFill>
              </a:rPr>
              <a:t>The five named comparables, in full</a:t>
            </a:r>
          </a:p>
        </p:txBody>
      </p:sp>
      <p:sp>
        <p:nvSpPr>
          <p:cNvPr id="3" name="TextBox 2"/>
          <p:cNvSpPr txBox="1"/>
          <p:nvPr/>
        </p:nvSpPr>
        <p:spPr>
          <a:xfrm>
            <a:off x="457200" y="1737360"/>
            <a:ext cx="11247120" cy="4389120"/>
          </a:xfrm>
          <a:prstGeom prst="rect">
            <a:avLst/>
          </a:prstGeom>
          <a:noFill/>
        </p:spPr>
        <p:txBody>
          <a:bodyPr wrap="square">
            <a:spAutoFit/>
          </a:bodyPr>
          <a:lstStyle/>
          <a:p>
            <a:pPr/>
            <a:r>
              <a:rPr sz="1400">
                <a:solidFill>
                  <a:srgbClr val="FFFFFF"/>
                </a:solidFill>
              </a:rPr>
              <a:t>→  Screener.in: search bar plus 10,000+ community-built saved filters, a few editorially surfaced. Burden is on the user to already know what a screen is.</a:t>
            </a:r>
          </a:p>
          <a:p>
            <a:pPr/>
            <a:r>
              <a:rPr sz="1400">
                <a:solidFill>
                  <a:srgbClr val="FFFFFF"/>
                </a:solidFill>
              </a:rPr>
              <a:t>→  Tickertape: asset-class-segmented home, curated pre-built screens, a proprietary sentiment gauge, thematic collections. More curated than Screener, still filter-centric.</a:t>
            </a:r>
          </a:p>
          <a:p>
            <a:pPr/>
            <a:r>
              <a:rPr sz="1400">
                <a:solidFill>
                  <a:srgbClr val="FFFFFF"/>
                </a:solidFill>
              </a:rPr>
              <a:t>→  Trendlyne: screener-first including a Red Flag screener, watchlists, insider-trade tracking. Markets against vibes or influencer advice, an anti-tip positioning close to StockFox's own.</a:t>
            </a:r>
          </a:p>
          <a:p>
            <a:pPr/>
            <a:r>
              <a:rPr sz="1400">
                <a:solidFill>
                  <a:srgbClr val="FFFFFF"/>
                </a:solidFill>
              </a:rPr>
              <a:t>→  StockGro: social and gamified home, virtual-money contests, leaderboards, a social feed. Runs Stoxo, a SEBI-registered-analyst-backed research arm, as a separate, higher-trust product line.</a:t>
            </a:r>
          </a:p>
          <a:p>
            <a:pPr/>
            <a:r>
              <a:rPr sz="1400">
                <a:solidFill>
                  <a:srgbClr val="FFFFFF"/>
                </a:solidFill>
              </a:rPr>
              <a:t>→  TradingView: screener plus a followable public Ideas feed, explicitly likened to a social-media follow model. Least beginner-India-specific of the five.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